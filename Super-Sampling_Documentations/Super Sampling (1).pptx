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1" r:id="rId4"/>
    <p:sldMasterId id="214748372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Barlow ExtraLight"/>
      <p:regular r:id="rId32"/>
      <p:bold r:id="rId33"/>
      <p:italic r:id="rId34"/>
      <p:boldItalic r:id="rId35"/>
    </p:embeddedFont>
    <p:embeddedFont>
      <p:font typeface="DM Sans Medium"/>
      <p:regular r:id="rId36"/>
      <p:bold r:id="rId37"/>
      <p:italic r:id="rId38"/>
      <p:boldItalic r:id="rId39"/>
    </p:embeddedFont>
    <p:embeddedFont>
      <p:font typeface="Economica"/>
      <p:regular r:id="rId40"/>
      <p:bold r:id="rId41"/>
      <p:italic r:id="rId42"/>
      <p:boldItalic r:id="rId43"/>
    </p:embeddedFont>
    <p:embeddedFont>
      <p:font typeface="Hepta Slab Medium"/>
      <p:regular r:id="rId44"/>
      <p:bold r:id="rId45"/>
    </p:embeddedFont>
    <p:embeddedFont>
      <p:font typeface="Hepta Slab Light"/>
      <p:regular r:id="rId46"/>
      <p:bold r:id="rId47"/>
    </p:embeddedFont>
    <p:embeddedFont>
      <p:font typeface="Hepta Slab"/>
      <p:regular r:id="rId48"/>
      <p:bold r:id="rId49"/>
    </p:embeddedFont>
    <p:embeddedFont>
      <p:font typeface="Barlow Medium"/>
      <p:regular r:id="rId50"/>
      <p:bold r:id="rId51"/>
      <p:italic r:id="rId52"/>
      <p:boldItalic r:id="rId53"/>
    </p:embeddedFont>
    <p:embeddedFont>
      <p:font typeface="Barlow Light"/>
      <p:regular r:id="rId54"/>
      <p:bold r:id="rId55"/>
      <p:italic r:id="rId56"/>
      <p:boldItalic r:id="rId57"/>
    </p:embeddedFont>
    <p:embeddedFont>
      <p:font typeface="Merriweather"/>
      <p:regular r:id="rId58"/>
      <p:bold r:id="rId59"/>
      <p:italic r:id="rId60"/>
      <p:boldItalic r:id="rId61"/>
    </p:embeddedFont>
    <p:embeddedFont>
      <p:font typeface="Barlow"/>
      <p:regular r:id="rId62"/>
      <p:bold r:id="rId63"/>
      <p:italic r:id="rId64"/>
      <p:boldItalic r:id="rId65"/>
    </p:embeddedFont>
    <p:embeddedFont>
      <p:font typeface="Open Sans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regular.fntdata"/><Relationship Id="rId42" Type="http://schemas.openxmlformats.org/officeDocument/2006/relationships/font" Target="fonts/Economica-italic.fntdata"/><Relationship Id="rId41" Type="http://schemas.openxmlformats.org/officeDocument/2006/relationships/font" Target="fonts/Economica-bold.fntdata"/><Relationship Id="rId44" Type="http://schemas.openxmlformats.org/officeDocument/2006/relationships/font" Target="fonts/HeptaSlabMedium-regular.fntdata"/><Relationship Id="rId43" Type="http://schemas.openxmlformats.org/officeDocument/2006/relationships/font" Target="fonts/Economica-boldItalic.fntdata"/><Relationship Id="rId46" Type="http://schemas.openxmlformats.org/officeDocument/2006/relationships/font" Target="fonts/HeptaSlabLight-regular.fntdata"/><Relationship Id="rId45" Type="http://schemas.openxmlformats.org/officeDocument/2006/relationships/font" Target="fonts/HeptaSlab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HeptaSlab-regular.fntdata"/><Relationship Id="rId47" Type="http://schemas.openxmlformats.org/officeDocument/2006/relationships/font" Target="fonts/HeptaSlabLight-bold.fntdata"/><Relationship Id="rId49" Type="http://schemas.openxmlformats.org/officeDocument/2006/relationships/font" Target="fonts/HeptaSlab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BarlowExtraLight-bold.fntdata"/><Relationship Id="rId32" Type="http://schemas.openxmlformats.org/officeDocument/2006/relationships/font" Target="fonts/BarlowExtraLight-regular.fntdata"/><Relationship Id="rId35" Type="http://schemas.openxmlformats.org/officeDocument/2006/relationships/font" Target="fonts/BarlowExtraLight-boldItalic.fntdata"/><Relationship Id="rId34" Type="http://schemas.openxmlformats.org/officeDocument/2006/relationships/font" Target="fonts/BarlowExtraLight-italic.fntdata"/><Relationship Id="rId37" Type="http://schemas.openxmlformats.org/officeDocument/2006/relationships/font" Target="fonts/DMSansMedium-bold.fntdata"/><Relationship Id="rId36" Type="http://schemas.openxmlformats.org/officeDocument/2006/relationships/font" Target="fonts/DMSansMedium-regular.fntdata"/><Relationship Id="rId39" Type="http://schemas.openxmlformats.org/officeDocument/2006/relationships/font" Target="fonts/DMSansMedium-boldItalic.fntdata"/><Relationship Id="rId38" Type="http://schemas.openxmlformats.org/officeDocument/2006/relationships/font" Target="fonts/DMSansMedium-italic.fntdata"/><Relationship Id="rId62" Type="http://schemas.openxmlformats.org/officeDocument/2006/relationships/font" Target="fonts/Barlow-regular.fntdata"/><Relationship Id="rId61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64" Type="http://schemas.openxmlformats.org/officeDocument/2006/relationships/font" Target="fonts/Barlow-italic.fntdata"/><Relationship Id="rId63" Type="http://schemas.openxmlformats.org/officeDocument/2006/relationships/font" Target="fonts/Barlow-bold.fntdata"/><Relationship Id="rId22" Type="http://schemas.openxmlformats.org/officeDocument/2006/relationships/slide" Target="slides/slide16.xml"/><Relationship Id="rId66" Type="http://schemas.openxmlformats.org/officeDocument/2006/relationships/font" Target="fonts/OpenSans-regular.fntdata"/><Relationship Id="rId21" Type="http://schemas.openxmlformats.org/officeDocument/2006/relationships/slide" Target="slides/slide15.xml"/><Relationship Id="rId65" Type="http://schemas.openxmlformats.org/officeDocument/2006/relationships/font" Target="fonts/Barlow-boldItalic.fntdata"/><Relationship Id="rId24" Type="http://schemas.openxmlformats.org/officeDocument/2006/relationships/slide" Target="slides/slide18.xml"/><Relationship Id="rId68" Type="http://schemas.openxmlformats.org/officeDocument/2006/relationships/font" Target="fonts/OpenSans-italic.fntdata"/><Relationship Id="rId23" Type="http://schemas.openxmlformats.org/officeDocument/2006/relationships/slide" Target="slides/slide17.xml"/><Relationship Id="rId67" Type="http://schemas.openxmlformats.org/officeDocument/2006/relationships/font" Target="fonts/OpenSans-bold.fntdata"/><Relationship Id="rId60" Type="http://schemas.openxmlformats.org/officeDocument/2006/relationships/font" Target="fonts/Merriweather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Medium-bold.fntdata"/><Relationship Id="rId50" Type="http://schemas.openxmlformats.org/officeDocument/2006/relationships/font" Target="fonts/BarlowMedium-regular.fntdata"/><Relationship Id="rId53" Type="http://schemas.openxmlformats.org/officeDocument/2006/relationships/font" Target="fonts/BarlowMedium-boldItalic.fntdata"/><Relationship Id="rId52" Type="http://schemas.openxmlformats.org/officeDocument/2006/relationships/font" Target="fonts/BarlowMedium-italic.fntdata"/><Relationship Id="rId11" Type="http://schemas.openxmlformats.org/officeDocument/2006/relationships/slide" Target="slides/slide5.xml"/><Relationship Id="rId55" Type="http://schemas.openxmlformats.org/officeDocument/2006/relationships/font" Target="fonts/BarlowLight-bold.fntdata"/><Relationship Id="rId10" Type="http://schemas.openxmlformats.org/officeDocument/2006/relationships/slide" Target="slides/slide4.xml"/><Relationship Id="rId54" Type="http://schemas.openxmlformats.org/officeDocument/2006/relationships/font" Target="fonts/BarlowLight-regular.fntdata"/><Relationship Id="rId13" Type="http://schemas.openxmlformats.org/officeDocument/2006/relationships/slide" Target="slides/slide7.xml"/><Relationship Id="rId57" Type="http://schemas.openxmlformats.org/officeDocument/2006/relationships/font" Target="fonts/Barlow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BarlowLight-italic.fntdata"/><Relationship Id="rId15" Type="http://schemas.openxmlformats.org/officeDocument/2006/relationships/slide" Target="slides/slide9.xml"/><Relationship Id="rId59" Type="http://schemas.openxmlformats.org/officeDocument/2006/relationships/font" Target="fonts/Merriweather-bold.fntdata"/><Relationship Id="rId14" Type="http://schemas.openxmlformats.org/officeDocument/2006/relationships/slide" Target="slides/slide8.xml"/><Relationship Id="rId58" Type="http://schemas.openxmlformats.org/officeDocument/2006/relationships/font" Target="fonts/Merriweather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11009af26_1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11009af26_1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11009af26_1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11009af26_1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311009af26_1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311009af26_1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 sampling is an anti-aliasing technique that improves image quality by taking multiple samples per pixel and averaging them to produce smoother transitions and reduce artifacts like jagged edges.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3145562a7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3145562a7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145562a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145562a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Sampling Methods: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Uniform Sampling</a:t>
            </a:r>
            <a:r>
              <a:rPr lang="en">
                <a:solidFill>
                  <a:schemeClr val="dk1"/>
                </a:solidFill>
              </a:rPr>
              <a:t>: Samples are evenly spaced in a grid (used during tracing and post-processing).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Jittered Sampling</a:t>
            </a:r>
            <a:r>
              <a:rPr lang="en">
                <a:solidFill>
                  <a:schemeClr val="dk1"/>
                </a:solidFill>
              </a:rPr>
              <a:t>: Samples are randomly perturbed within the pixel grid (only during tracing).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Filtering Techniques: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Box Filter</a:t>
            </a:r>
            <a:r>
              <a:rPr lang="en">
                <a:solidFill>
                  <a:schemeClr val="dk1"/>
                </a:solidFill>
              </a:rPr>
              <a:t>: Averages all samples equally.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Gaussian Filter</a:t>
            </a:r>
            <a:r>
              <a:rPr lang="en">
                <a:solidFill>
                  <a:schemeClr val="dk1"/>
                </a:solidFill>
              </a:rPr>
              <a:t>: Weighs samples based on a Gaussian distribution, giving more importance to central samples.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11009af26_1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311009af26_1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311009af26_1_1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311009af26_1_1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3124845ab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3124845ab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3124845ab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3124845ab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this one first, kind of works but could be better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3124845aba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3124845ab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much better, but can see the </a:t>
            </a:r>
            <a:r>
              <a:rPr lang="en"/>
              <a:t>background blending in w/the edge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124845aba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3124845ab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Looks similar, but background blends in w/edges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14af3a9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314af3a9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Looks similar,changed size and </a:t>
            </a:r>
            <a:r>
              <a:rPr lang="en"/>
              <a:t>intensity</a:t>
            </a:r>
            <a:r>
              <a:rPr lang="en"/>
              <a:t> a little, only a slight difference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3124845aba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3124845ab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Looks much better, smoother, background does not blend in w/background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3124845aba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3124845aba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Same thing: </a:t>
            </a:r>
            <a:r>
              <a:rPr lang="en">
                <a:solidFill>
                  <a:schemeClr val="dk1"/>
                </a:solidFill>
              </a:rPr>
              <a:t>Looks much better, smoother, background does not blend in w/background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3124845aba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3124845aba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Thought it would be </a:t>
            </a:r>
            <a:r>
              <a:rPr lang="en"/>
              <a:t>interesting</a:t>
            </a:r>
            <a:r>
              <a:rPr lang="en"/>
              <a:t> to see what happens if we downsampled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311009af26_1_2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311009af26_1_2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combinations of blurring and sampling, if it’s a gaussian blur you can adjust the kernel size and the strength of it, allows the user to choose their favorite </a:t>
            </a:r>
            <a:r>
              <a:rPr lang="en"/>
              <a:t>combination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311009af26_1_1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311009af26_1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311009af26_1_2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311009af26_1_2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NVIDIA's Deep Learning Super Sampling (DLSS 4) which leverages neural networks to upscale lower resolution images to higher resolutions with minimal quality loss; this allows for higher visual fidelity in games while maintaining frame rates.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</a:t>
            </a:r>
            <a:r>
              <a:rPr lang="en"/>
              <a:t>available</a:t>
            </a:r>
            <a:r>
              <a:rPr lang="en"/>
              <a:t> on Nvidia Hardware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super sampling: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Utilizing information from previous frames to enhance the quality of upscaled images, especially in motion-heavy scenes.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311009af26_1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311009af26_1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311009af26_1_1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311009af26_1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Eyeballed quality of the results, we did good if it looks good. Mainly looking for </a:t>
            </a:r>
            <a:r>
              <a:rPr lang="en"/>
              <a:t>diagonal</a:t>
            </a:r>
            <a:r>
              <a:rPr lang="en"/>
              <a:t> jaggy edges and how it made it smooth like the image on the right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311009af26_1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311009af26_1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311009af26_1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311009af26_1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vs Jitter (top), box filter (middle), and the equation I used for </a:t>
            </a:r>
            <a:r>
              <a:rPr lang="en"/>
              <a:t>gaussian</a:t>
            </a:r>
            <a:r>
              <a:rPr lang="en"/>
              <a:t> blur (bottom)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311009af26_1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311009af26_1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Triangle Filter</a:t>
            </a:r>
            <a:r>
              <a:rPr b="1" lang="en"/>
              <a:t>:</a:t>
            </a:r>
            <a:r>
              <a:rPr lang="en"/>
              <a:t> Similar to a box filter but gives more weight to samples near the center of the pixel, reducing blurring.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Smoother than box filtering, but still easy to implement.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Stratified Sampling: </a:t>
            </a:r>
            <a:r>
              <a:rPr lang="en"/>
              <a:t>Instead of fully random jittered sampling, this divides each pixel into a grid of subregions and takes one random sample per subregion to ensure better coverage.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Reduces clumping that can happen with full jittered sampling.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Poisson Disk Sampling:</a:t>
            </a:r>
            <a:r>
              <a:rPr lang="en"/>
              <a:t> A technique for generating a set of points that are randomly distributed but maintain a minimum distance from each other, creating a more natural and uniform pattern compared to random sampling.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Adaptive Sampling:</a:t>
            </a:r>
            <a:r>
              <a:rPr lang="en">
                <a:solidFill>
                  <a:schemeClr val="dk1"/>
                </a:solidFill>
              </a:rPr>
              <a:t> Instead of always taking the same number of samples per pixel, increase samples in high-contrast areas (edges, detailed textures) and decrease in smooth areas.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Optimizes performance by avoiding unnecessary samples in uniform areas.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ML:</a:t>
            </a:r>
            <a:r>
              <a:rPr lang="en">
                <a:solidFill>
                  <a:schemeClr val="dk1"/>
                </a:solidFill>
              </a:rPr>
              <a:t> Uses a neural network to predict higher-resolution pixel values based on low-resolution input.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 behind NVIDIA DLSS and Intel XeSS.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311009af26_1_2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311009af26_1_2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AND_BODY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>
  <p:cSld name="TITLE_AND_TWO_COLUMNS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6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_1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_1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5" name="Google Shape;95;p18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7" name="Google Shape;97;p18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6" name="Google Shape;116;p18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_1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135" name="Google Shape;135;p21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1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7" name="Google Shape;137;p21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8" name="Google Shape;138;p21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" name="Google Shape;139;p21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0" name="Google Shape;140;p21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1" name="Google Shape;141;p21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59" name="Google Shape;159;p24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62" name="Google Shape;162;p24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3" name="Google Shape;163;p24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9" name="Google Shape;169;p24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70" name="Google Shape;170;p24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175" name="Google Shape;175;p25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5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7" name="Google Shape;177;p25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8" name="Google Shape;178;p25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9" name="Google Shape;179;p25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0" name="Google Shape;180;p25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1" name="Google Shape;181;p25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0" name="Google Shape;190;p25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_1"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9" name="Google Shape;20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0" name="Google Shape;22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6" name="Google Shape;23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3" name="Google Shape;243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4" name="Google Shape;244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67" name="Google Shape;267;p4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" name="Google Shape;275;p4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79" name="Google Shape;279;p4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81" name="Google Shape;281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2" name="Google Shape;282;p4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4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89" name="Google Shape;289;p4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90" name="Google Shape;290;p4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91" name="Google Shape;291;p4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2" name="Google Shape;292;p4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4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4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4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4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4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8" name="Google Shape;308;p4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1" name="Google Shape;311;p4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4" name="Google Shape;314;p4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6" name="Google Shape;31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4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0" name="Google Shape;320;p4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5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5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38" name="Google Shape;338;p5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3" name="Google Shape;343;p5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44" name="Google Shape;34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47" name="Google Shape;347;p54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48" name="Google Shape;348;p54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49" name="Google Shape;349;p54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50" name="Google Shape;350;p54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51" name="Google Shape;351;p54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52" name="Google Shape;352;p54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53" name="Google Shape;353;p54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54" name="Google Shape;354;p54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55" name="Google Shape;355;p54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56" name="Google Shape;356;p54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57" name="Google Shape;357;p54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58" name="Google Shape;358;p54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59" name="Google Shape;359;p54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60" name="Google Shape;360;p54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61" name="Google Shape;361;p54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2" name="Google Shape;362;p54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63" name="Google Shape;363;p54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64" name="Google Shape;364;p54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5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5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69" name="Google Shape;369;p55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0" name="Google Shape;370;p55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71" name="Google Shape;371;p55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72" name="Google Shape;372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6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76" name="Google Shape;376;p56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7" name="Google Shape;377;p56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8" name="Google Shape;37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7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7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7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7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85" name="Google Shape;385;p57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86" name="Google Shape;386;p57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7" name="Google Shape;387;p57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8" name="Google Shape;388;p57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89" name="Google Shape;389;p57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90" name="Google Shape;390;p57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91" name="Google Shape;391;p57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92" name="Google Shape;392;p57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93" name="Google Shape;393;p57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94" name="Google Shape;394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97" name="Google Shape;397;p58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98" name="Google Shape;398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01" name="Google Shape;401;p59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402" name="Google Shape;402;p59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03" name="Google Shape;403;p5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0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06" name="Google Shape;406;p60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07" name="Google Shape;407;p60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08" name="Google Shape;408;p60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09" name="Google Shape;409;p60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0" name="Google Shape;410;p60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11" name="Google Shape;411;p6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4" name="Google Shape;414;p61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15" name="Google Shape;415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18" name="Google Shape;418;p6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9" name="Google Shape;419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3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23" name="Google Shape;423;p63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4" name="Google Shape;424;p6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63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3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4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429" name="Google Shape;429;p64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430" name="Google Shape;430;p64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431" name="Google Shape;431;p64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432" name="Google Shape;432;p64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33" name="Google Shape;433;p64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34" name="Google Shape;434;p6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37" name="Google Shape;437;p6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38" name="Google Shape;438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6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42" name="Google Shape;442;p66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3" name="Google Shape;443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7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47" name="Google Shape;447;p67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48" name="Google Shape;448;p67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49" name="Google Shape;449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8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2" name="Google Shape;452;p68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53" name="Google Shape;453;p68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4" name="Google Shape;454;p6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9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7" name="Google Shape;457;p69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8" name="Google Shape;458;p69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9" name="Google Shape;459;p69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60" name="Google Shape;460;p69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61" name="Google Shape;461;p69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462" name="Google Shape;462;p69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69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4" name="Google Shape;464;p69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69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6" name="Google Shape;466;p69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7" name="Google Shape;467;p69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8" name="Google Shape;468;p69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69" name="Google Shape;469;p69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70" name="Google Shape;470;p69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1" name="Google Shape;471;p69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2" name="Google Shape;472;p69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3" name="Google Shape;473;p69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4" name="Google Shape;474;p6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0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77" name="Google Shape;477;p70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78" name="Google Shape;478;p7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1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81" name="Google Shape;481;p71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82" name="Google Shape;482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2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85" name="Google Shape;485;p72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86" name="Google Shape;486;p72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87" name="Google Shape;487;p72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88" name="Google Shape;488;p72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89" name="Google Shape;489;p72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90" name="Google Shape;490;p72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91" name="Google Shape;491;p72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92" name="Google Shape;492;p72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93" name="Google Shape;493;p72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94" name="Google Shape;494;p72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95" name="Google Shape;495;p72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6" name="Google Shape;496;p72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97" name="Google Shape;497;p72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98" name="Google Shape;498;p7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3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01" name="Google Shape;501;p73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502" name="Google Shape;502;p73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73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4" name="Google Shape;504;p73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5" name="Google Shape;505;p73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6" name="Google Shape;506;p73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7" name="Google Shape;507;p73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8" name="Google Shape;508;p73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09" name="Google Shape;509;p73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10" name="Google Shape;510;p73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1" name="Google Shape;511;p73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2" name="Google Shape;512;p73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3" name="Google Shape;513;p73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4" name="Google Shape;514;p73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5" name="Google Shape;515;p73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6" name="Google Shape;516;p73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7" name="Google Shape;517;p73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8" name="Google Shape;518;p7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4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21" name="Google Shape;521;p74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2" name="Google Shape;522;p7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5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25" name="Google Shape;525;p75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26" name="Google Shape;526;p7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52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73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57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715" r:id="rId40"/>
    <p:sldLayoutId id="2147483716" r:id="rId41"/>
    <p:sldLayoutId id="2147483717" r:id="rId42"/>
    <p:sldLayoutId id="2147483718" r:id="rId43"/>
    <p:sldLayoutId id="2147483719" r:id="rId44"/>
    <p:sldLayoutId id="2147483720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Arial"/>
              <a:buNone/>
            </a:pPr>
            <a:r>
              <a:rPr lang="en" sz="5400"/>
              <a:t>SUPER</a:t>
            </a:r>
            <a:endParaRPr sz="5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SAMPLING</a:t>
            </a:r>
            <a:endParaRPr/>
          </a:p>
        </p:txBody>
      </p:sp>
      <p:sp>
        <p:nvSpPr>
          <p:cNvPr id="532" name="Google Shape;532;p7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Abe Gizaw, Brian Pascente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77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39" name="Google Shape;539;p77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</a:t>
            </a: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Supersampling -Abe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0" name="Google Shape;540;p77"/>
          <p:cNvSpPr txBox="1"/>
          <p:nvPr/>
        </p:nvSpPr>
        <p:spPr>
          <a:xfrm>
            <a:off x="516425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Demo + What We accomplished - Brian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1" name="Google Shape;541;p77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 - Abe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2" name="Google Shape;542;p77"/>
          <p:cNvSpPr txBox="1"/>
          <p:nvPr/>
        </p:nvSpPr>
        <p:spPr>
          <a:xfrm>
            <a:off x="516422" y="3256500"/>
            <a:ext cx="8627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measured results - Brian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3" name="Google Shape;543;p77"/>
          <p:cNvSpPr txBox="1"/>
          <p:nvPr/>
        </p:nvSpPr>
        <p:spPr>
          <a:xfrm>
            <a:off x="516425" y="4102800"/>
            <a:ext cx="8812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</a:t>
            </a: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learned</a:t>
            </a: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+ Next Steps - Both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4" name="Google Shape;544;p77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5" name="Google Shape;545;p77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6" name="Google Shape;546;p77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7" name="Google Shape;547;p77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8" name="Google Shape;548;p77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78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55" name="Google Shape;555;p78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Supersampling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6" name="Google Shape;556;p78"/>
          <p:cNvSpPr txBox="1"/>
          <p:nvPr/>
        </p:nvSpPr>
        <p:spPr>
          <a:xfrm>
            <a:off x="516424" y="1584300"/>
            <a:ext cx="750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Demo + What We accomplished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7" name="Google Shape;557;p78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8" name="Google Shape;558;p78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measured results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9" name="Google Shape;559;p78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learned + Next Steps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0" name="Google Shape;560;p78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1" name="Google Shape;561;p78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2" name="Google Shape;562;p78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3" name="Google Shape;563;p78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4" name="Google Shape;564;p78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9"/>
          <p:cNvSpPr txBox="1"/>
          <p:nvPr>
            <p:ph type="title"/>
          </p:nvPr>
        </p:nvSpPr>
        <p:spPr>
          <a:xfrm>
            <a:off x="0" y="46470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Supersampling</a:t>
            </a:r>
            <a:endParaRPr/>
          </a:p>
        </p:txBody>
      </p:sp>
      <p:sp>
        <p:nvSpPr>
          <p:cNvPr id="570" name="Google Shape;570;p79"/>
          <p:cNvSpPr txBox="1"/>
          <p:nvPr>
            <p:ph idx="1" type="body"/>
          </p:nvPr>
        </p:nvSpPr>
        <p:spPr>
          <a:xfrm>
            <a:off x="0" y="2097600"/>
            <a:ext cx="5887500" cy="25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How It Works</a:t>
            </a:r>
            <a:r>
              <a:rPr lang="en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The ray tracer casts multiple rays per pixel.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The colors from these rays are blended to determine the final pixel color.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Higher sampling rates result in better image quality but increase computational cost.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7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573" name="Google Shape;57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600" y="584950"/>
            <a:ext cx="3151800" cy="315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80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580" name="Google Shape;58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5" y="598875"/>
            <a:ext cx="3578700" cy="35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500" y="598875"/>
            <a:ext cx="3578700" cy="35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80"/>
          <p:cNvSpPr txBox="1"/>
          <p:nvPr/>
        </p:nvSpPr>
        <p:spPr>
          <a:xfrm>
            <a:off x="1227875" y="4405650"/>
            <a:ext cx="18606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 Anti-aliasing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3" name="Google Shape;583;p80"/>
          <p:cNvSpPr txBox="1"/>
          <p:nvPr/>
        </p:nvSpPr>
        <p:spPr>
          <a:xfrm>
            <a:off x="6339850" y="4405650"/>
            <a:ext cx="10440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liasing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80"/>
          <p:cNvSpPr/>
          <p:nvPr/>
        </p:nvSpPr>
        <p:spPr>
          <a:xfrm>
            <a:off x="4122563" y="1994850"/>
            <a:ext cx="774900" cy="57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1"/>
          <p:cNvSpPr txBox="1"/>
          <p:nvPr>
            <p:ph type="title"/>
          </p:nvPr>
        </p:nvSpPr>
        <p:spPr>
          <a:xfrm>
            <a:off x="2996100" y="196725"/>
            <a:ext cx="3151800" cy="17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Supersampling we used</a:t>
            </a:r>
            <a:endParaRPr/>
          </a:p>
        </p:txBody>
      </p:sp>
      <p:sp>
        <p:nvSpPr>
          <p:cNvPr id="590" name="Google Shape;590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81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45100" y="1838088"/>
            <a:ext cx="28575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Filtering Techniques</a:t>
            </a:r>
            <a:r>
              <a:rPr b="1" lang="en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Box Filter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Gaussian Filter</a:t>
            </a:r>
            <a:endParaRPr/>
          </a:p>
        </p:txBody>
      </p:sp>
      <p:sp>
        <p:nvSpPr>
          <p:cNvPr id="593" name="Google Shape;593;p81"/>
          <p:cNvSpPr txBox="1"/>
          <p:nvPr>
            <p:ph idx="1" type="body"/>
          </p:nvPr>
        </p:nvSpPr>
        <p:spPr>
          <a:xfrm>
            <a:off x="654500" y="1838100"/>
            <a:ext cx="27819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Sampling Methods: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Uniform Sampling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Jittered Sampling</a:t>
            </a:r>
            <a:endParaRPr/>
          </a:p>
        </p:txBody>
      </p:sp>
      <p:sp>
        <p:nvSpPr>
          <p:cNvPr id="594" name="Google Shape;594;p81"/>
          <p:cNvSpPr txBox="1"/>
          <p:nvPr>
            <p:ph idx="1" type="body"/>
          </p:nvPr>
        </p:nvSpPr>
        <p:spPr>
          <a:xfrm>
            <a:off x="0" y="3589525"/>
            <a:ext cx="91440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Use</a:t>
            </a:r>
            <a:r>
              <a:rPr b="1" lang="en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/>
              <a:t>Sampling </a:t>
            </a:r>
            <a:r>
              <a:rPr lang="en"/>
              <a:t>– Determines where to collect color information from the scene.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b="1" lang="en"/>
              <a:t>Filtering </a:t>
            </a:r>
            <a:r>
              <a:rPr lang="en"/>
              <a:t>– Combines sampled data to produce the final pixel color.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0" name="Google Shape;600;p82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01" name="Google Shape;601;p82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Supersampling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2" name="Google Shape;602;p82"/>
          <p:cNvSpPr txBox="1"/>
          <p:nvPr/>
        </p:nvSpPr>
        <p:spPr>
          <a:xfrm>
            <a:off x="516424" y="1584300"/>
            <a:ext cx="750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Demo + What We accomplished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3" name="Google Shape;603;p82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4" name="Google Shape;604;p82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measured results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5" name="Google Shape;605;p82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learned + Next Steps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6" name="Google Shape;606;p82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7" name="Google Shape;607;p82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8" name="Google Shape;608;p82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09" name="Google Shape;609;p82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0" name="Google Shape;610;p82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3"/>
          <p:cNvSpPr txBox="1"/>
          <p:nvPr>
            <p:ph idx="2" type="title"/>
          </p:nvPr>
        </p:nvSpPr>
        <p:spPr>
          <a:xfrm>
            <a:off x="3278250" y="2163150"/>
            <a:ext cx="2587500" cy="8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DEMO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4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Image</a:t>
            </a:r>
            <a:endParaRPr/>
          </a:p>
        </p:txBody>
      </p:sp>
      <p:sp>
        <p:nvSpPr>
          <p:cNvPr id="621" name="Google Shape;621;p84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200x200 blue spheres.obj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84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24" name="Google Shape;62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750" y="1171475"/>
            <a:ext cx="2689750" cy="268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8500" y="1314400"/>
            <a:ext cx="3432625" cy="2403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5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Filter After </a:t>
            </a:r>
            <a:br>
              <a:rPr lang="en"/>
            </a:br>
            <a:r>
              <a:rPr lang="en"/>
              <a:t>Rendering</a:t>
            </a:r>
            <a:endParaRPr/>
          </a:p>
        </p:txBody>
      </p:sp>
      <p:sp>
        <p:nvSpPr>
          <p:cNvPr id="631" name="Google Shape;631;p85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Box Filter on the output image after rendering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(400x400)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5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34" name="Google Shape;63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500" y="6667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85"/>
          <p:cNvPicPr preferRelativeResize="0"/>
          <p:nvPr/>
        </p:nvPicPr>
        <p:blipFill rotWithShape="1">
          <a:blip r:embed="rId4">
            <a:alphaModFix/>
          </a:blip>
          <a:srcRect b="2837" l="0" r="0" t="0"/>
          <a:stretch/>
        </p:blipFill>
        <p:spPr>
          <a:xfrm>
            <a:off x="6155850" y="1525900"/>
            <a:ext cx="2988151" cy="203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6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Filter while</a:t>
            </a:r>
            <a:br>
              <a:rPr lang="en"/>
            </a:br>
            <a:r>
              <a:rPr lang="en"/>
              <a:t>rendering</a:t>
            </a:r>
            <a:endParaRPr/>
          </a:p>
        </p:txBody>
      </p:sp>
      <p:sp>
        <p:nvSpPr>
          <p:cNvPr id="641" name="Google Shape;641;p86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(400x400)</a:t>
            </a:r>
            <a:br>
              <a:rPr lang="en"/>
            </a:br>
            <a:r>
              <a:rPr lang="en"/>
              <a:t>(uniform sampling)</a:t>
            </a:r>
            <a:endParaRPr/>
          </a:p>
        </p:txBody>
      </p:sp>
      <p:sp>
        <p:nvSpPr>
          <p:cNvPr id="642" name="Google Shape;642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86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44" name="Google Shape;64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575" y="151345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7700" y="6667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3873" y="1610675"/>
            <a:ext cx="2700123" cy="185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7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Filter while rendering</a:t>
            </a:r>
            <a:endParaRPr/>
          </a:p>
        </p:txBody>
      </p:sp>
      <p:sp>
        <p:nvSpPr>
          <p:cNvPr id="652" name="Google Shape;652;p8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(400x400)</a:t>
            </a:r>
            <a:br>
              <a:rPr lang="en"/>
            </a:br>
            <a:r>
              <a:rPr lang="en"/>
              <a:t>(Kernel size 3x3, σ=1)</a:t>
            </a:r>
            <a:br>
              <a:rPr lang="en"/>
            </a:br>
            <a:r>
              <a:rPr lang="en"/>
              <a:t>(uniform sampling)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8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55" name="Google Shape;65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825" y="742613"/>
            <a:ext cx="3515825" cy="351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650" y="1654342"/>
            <a:ext cx="2471350" cy="173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8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Filter while rendering</a:t>
            </a:r>
            <a:endParaRPr/>
          </a:p>
        </p:txBody>
      </p:sp>
      <p:sp>
        <p:nvSpPr>
          <p:cNvPr id="662" name="Google Shape;662;p8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(400x400)</a:t>
            </a:r>
            <a:br>
              <a:rPr lang="en"/>
            </a:br>
            <a:r>
              <a:rPr lang="en"/>
              <a:t>(Kernel size 9x9, σ=3)</a:t>
            </a:r>
            <a:br>
              <a:rPr lang="en"/>
            </a:br>
            <a:r>
              <a:rPr lang="en"/>
              <a:t>(uniform sampling)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p88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65" name="Google Shape;66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825" y="742613"/>
            <a:ext cx="3515825" cy="351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7625" y="1823166"/>
            <a:ext cx="2676374" cy="163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6825" y="742625"/>
            <a:ext cx="3515825" cy="35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9"/>
          <p:cNvSpPr txBox="1"/>
          <p:nvPr>
            <p:ph type="title"/>
          </p:nvPr>
        </p:nvSpPr>
        <p:spPr>
          <a:xfrm>
            <a:off x="171100" y="1361350"/>
            <a:ext cx="27966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Filter while</a:t>
            </a:r>
            <a:br>
              <a:rPr lang="en"/>
            </a:br>
            <a:r>
              <a:rPr lang="en"/>
              <a:t>Rendering (Jittering Sample)</a:t>
            </a:r>
            <a:endParaRPr/>
          </a:p>
        </p:txBody>
      </p:sp>
      <p:sp>
        <p:nvSpPr>
          <p:cNvPr id="673" name="Google Shape;673;p89"/>
          <p:cNvSpPr txBox="1"/>
          <p:nvPr>
            <p:ph idx="1" type="body"/>
          </p:nvPr>
        </p:nvSpPr>
        <p:spPr>
          <a:xfrm>
            <a:off x="171100" y="29309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(400x400)</a:t>
            </a:r>
            <a:endParaRPr/>
          </a:p>
        </p:txBody>
      </p:sp>
      <p:sp>
        <p:nvSpPr>
          <p:cNvPr id="674" name="Google Shape;674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8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76" name="Google Shape;67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700" y="5164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0421" y="1288800"/>
            <a:ext cx="3332702" cy="18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0"/>
          <p:cNvSpPr txBox="1"/>
          <p:nvPr>
            <p:ph type="title"/>
          </p:nvPr>
        </p:nvSpPr>
        <p:spPr>
          <a:xfrm>
            <a:off x="99850" y="2034000"/>
            <a:ext cx="27966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Filter while</a:t>
            </a:r>
            <a:br>
              <a:rPr lang="en"/>
            </a:br>
            <a:r>
              <a:rPr lang="en"/>
              <a:t>Rendering (Jittering Sample)</a:t>
            </a:r>
            <a:endParaRPr/>
          </a:p>
        </p:txBody>
      </p:sp>
      <p:sp>
        <p:nvSpPr>
          <p:cNvPr id="683" name="Google Shape;683;p90"/>
          <p:cNvSpPr txBox="1"/>
          <p:nvPr>
            <p:ph idx="1" type="body"/>
          </p:nvPr>
        </p:nvSpPr>
        <p:spPr>
          <a:xfrm>
            <a:off x="99850" y="366690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(400x400)</a:t>
            </a:r>
            <a:br>
              <a:rPr lang="en"/>
            </a:br>
            <a:r>
              <a:rPr lang="en"/>
              <a:t>(Kernel size 3x3, σ=1)</a:t>
            </a:r>
            <a:endParaRPr/>
          </a:p>
        </p:txBody>
      </p:sp>
      <p:sp>
        <p:nvSpPr>
          <p:cNvPr id="684" name="Google Shape;684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90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86" name="Google Shape;68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8875" y="4847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175" y="1704325"/>
            <a:ext cx="3000827" cy="166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1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Downsampling</a:t>
            </a:r>
            <a:endParaRPr/>
          </a:p>
        </p:txBody>
      </p:sp>
      <p:sp>
        <p:nvSpPr>
          <p:cNvPr id="693" name="Google Shape;693;p9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200x200 blue spheres.obj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-&gt;100x100 blue spheres</a:t>
            </a:r>
            <a:endParaRPr/>
          </a:p>
        </p:txBody>
      </p:sp>
      <p:sp>
        <p:nvSpPr>
          <p:cNvPr id="694" name="Google Shape;694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91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Supersampling</a:t>
            </a:r>
            <a:endParaRPr/>
          </a:p>
        </p:txBody>
      </p:sp>
      <p:pic>
        <p:nvPicPr>
          <p:cNvPr id="696" name="Google Shape;69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012" y="1543475"/>
            <a:ext cx="1860600" cy="18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3437" y="1630425"/>
            <a:ext cx="3407589" cy="230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2"/>
          <p:cNvSpPr txBox="1"/>
          <p:nvPr>
            <p:ph type="title"/>
          </p:nvPr>
        </p:nvSpPr>
        <p:spPr>
          <a:xfrm>
            <a:off x="171200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Accomplishments</a:t>
            </a:r>
            <a:endParaRPr/>
          </a:p>
        </p:txBody>
      </p:sp>
      <p:sp>
        <p:nvSpPr>
          <p:cNvPr id="703" name="Google Shape;703;p92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Able to accomplish super-sampling with multiple different methods</a:t>
            </a:r>
            <a:endParaRPr/>
          </a:p>
        </p:txBody>
      </p:sp>
      <p:sp>
        <p:nvSpPr>
          <p:cNvPr id="704" name="Google Shape;704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2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we Accomplished</a:t>
            </a:r>
            <a:endParaRPr/>
          </a:p>
        </p:txBody>
      </p:sp>
      <p:pic>
        <p:nvPicPr>
          <p:cNvPr id="706" name="Google Shape;70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188" y="1858875"/>
            <a:ext cx="1675625" cy="16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875" y="81175"/>
            <a:ext cx="2025450" cy="20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92"/>
          <p:cNvSpPr txBox="1"/>
          <p:nvPr/>
        </p:nvSpPr>
        <p:spPr>
          <a:xfrm>
            <a:off x="6385075" y="2035400"/>
            <a:ext cx="3220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Box Filter Uniform Sampling (800x800)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9" name="Google Shape;70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9875" y="2533388"/>
            <a:ext cx="2025450" cy="20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92"/>
          <p:cNvSpPr txBox="1"/>
          <p:nvPr/>
        </p:nvSpPr>
        <p:spPr>
          <a:xfrm>
            <a:off x="6530925" y="4689825"/>
            <a:ext cx="2490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Gaussian Filter Jitter Sampling (800x800)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1" name="Google Shape;711;p92"/>
          <p:cNvSpPr txBox="1"/>
          <p:nvPr/>
        </p:nvSpPr>
        <p:spPr>
          <a:xfrm>
            <a:off x="3753425" y="3621550"/>
            <a:ext cx="167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Original (400x400)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2" name="Google Shape;712;p92"/>
          <p:cNvCxnSpPr/>
          <p:nvPr/>
        </p:nvCxnSpPr>
        <p:spPr>
          <a:xfrm flipH="1" rot="10800000">
            <a:off x="5486400" y="1342650"/>
            <a:ext cx="854700" cy="82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92"/>
          <p:cNvCxnSpPr>
            <a:stCxn id="706" idx="3"/>
          </p:cNvCxnSpPr>
          <p:nvPr/>
        </p:nvCxnSpPr>
        <p:spPr>
          <a:xfrm>
            <a:off x="5409813" y="2696688"/>
            <a:ext cx="970800" cy="7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9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20" name="Google Shape;720;p93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Supersampling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1" name="Google Shape;721;p93"/>
          <p:cNvSpPr txBox="1"/>
          <p:nvPr/>
        </p:nvSpPr>
        <p:spPr>
          <a:xfrm>
            <a:off x="516424" y="1584300"/>
            <a:ext cx="750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Demo + What We accomplished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2" name="Google Shape;722;p93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3" name="Google Shape;723;p93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measured results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4" name="Google Shape;724;p93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learned + Next Steps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5" name="Google Shape;725;p93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6" name="Google Shape;726;p93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7" name="Google Shape;727;p93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8" name="Google Shape;728;p93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9" name="Google Shape;729;p93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4"/>
          <p:cNvSpPr txBox="1"/>
          <p:nvPr>
            <p:ph type="title"/>
          </p:nvPr>
        </p:nvSpPr>
        <p:spPr>
          <a:xfrm>
            <a:off x="171200" y="1052750"/>
            <a:ext cx="28413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</p:txBody>
      </p:sp>
      <p:sp>
        <p:nvSpPr>
          <p:cNvPr id="735" name="Google Shape;735;p94"/>
          <p:cNvSpPr txBox="1"/>
          <p:nvPr>
            <p:ph idx="1" type="body"/>
          </p:nvPr>
        </p:nvSpPr>
        <p:spPr>
          <a:xfrm>
            <a:off x="197375" y="2685650"/>
            <a:ext cx="28413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Current work in </a:t>
            </a:r>
            <a:r>
              <a:rPr lang="en"/>
              <a:t>supersampling</a:t>
            </a:r>
            <a:r>
              <a:rPr lang="en"/>
              <a:t> primarily focus on using AI techniques to improve image quality </a:t>
            </a:r>
            <a:endParaRPr/>
          </a:p>
        </p:txBody>
      </p:sp>
      <p:sp>
        <p:nvSpPr>
          <p:cNvPr id="736" name="Google Shape;736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7" name="Google Shape;737;p94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State of the Art</a:t>
            </a:r>
            <a:endParaRPr/>
          </a:p>
        </p:txBody>
      </p:sp>
      <p:sp>
        <p:nvSpPr>
          <p:cNvPr id="738" name="Google Shape;738;p94"/>
          <p:cNvSpPr txBox="1"/>
          <p:nvPr/>
        </p:nvSpPr>
        <p:spPr>
          <a:xfrm>
            <a:off x="4485150" y="561075"/>
            <a:ext cx="36738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Uses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NVIDIA's Deep Learning Super Sampling (DLSS)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Intel XeSS.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39" name="Google Shape;73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2525" y="2117775"/>
            <a:ext cx="5379050" cy="30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5" name="Google Shape;745;p95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46" name="Google Shape;746;p95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Supersampling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47" name="Google Shape;747;p95"/>
          <p:cNvSpPr txBox="1"/>
          <p:nvPr/>
        </p:nvSpPr>
        <p:spPr>
          <a:xfrm>
            <a:off x="516424" y="1584300"/>
            <a:ext cx="750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Demo + What We accomplished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48" name="Google Shape;748;p95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49" name="Google Shape;749;p95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measured results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0" name="Google Shape;750;p95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learned + Next Steps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1" name="Google Shape;751;p95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2" name="Google Shape;752;p95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3" name="Google Shape;753;p95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4" name="Google Shape;754;p95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55" name="Google Shape;755;p95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6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761" name="Google Shape;761;p96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measured results by mainly comparing the images side by side</a:t>
            </a:r>
            <a:endParaRPr/>
          </a:p>
        </p:txBody>
      </p:sp>
      <p:sp>
        <p:nvSpPr>
          <p:cNvPr id="762" name="Google Shape;762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96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we Measured Results</a:t>
            </a:r>
            <a:endParaRPr/>
          </a:p>
        </p:txBody>
      </p:sp>
      <p:pic>
        <p:nvPicPr>
          <p:cNvPr id="764" name="Google Shape;76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313" y="1569425"/>
            <a:ext cx="2923375" cy="231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3675" y="1586194"/>
            <a:ext cx="2987476" cy="2300231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96"/>
          <p:cNvSpPr txBox="1"/>
          <p:nvPr/>
        </p:nvSpPr>
        <p:spPr>
          <a:xfrm>
            <a:off x="3247000" y="4278325"/>
            <a:ext cx="54522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Cornell box 400x400 original (left) and Box Filter Uniform Sampling 800x800 (right)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2" name="Google Shape;772;p97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73" name="Google Shape;773;p97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Supersampling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4" name="Google Shape;774;p97"/>
          <p:cNvSpPr txBox="1"/>
          <p:nvPr/>
        </p:nvSpPr>
        <p:spPr>
          <a:xfrm>
            <a:off x="516424" y="1584300"/>
            <a:ext cx="750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Demo + What We accomplished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5" name="Google Shape;775;p97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6" name="Google Shape;776;p97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How we measured results</a:t>
            </a:r>
            <a:endParaRPr b="1" sz="365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7" name="Google Shape;777;p97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learned + Next Steps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8" name="Google Shape;778;p97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9" name="Google Shape;779;p97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80" name="Google Shape;780;p97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81" name="Google Shape;781;p97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82" name="Google Shape;782;p97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 </a:t>
            </a:r>
            <a:endParaRPr/>
          </a:p>
        </p:txBody>
      </p:sp>
      <p:sp>
        <p:nvSpPr>
          <p:cNvPr id="788" name="Google Shape;788;p98"/>
          <p:cNvSpPr txBox="1"/>
          <p:nvPr>
            <p:ph idx="1" type="body"/>
          </p:nvPr>
        </p:nvSpPr>
        <p:spPr>
          <a:xfrm>
            <a:off x="197375" y="2685650"/>
            <a:ext cx="41496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Super sampling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Difference between applying filters during and after rendering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Different implementation of </a:t>
            </a:r>
            <a:r>
              <a:rPr lang="en" sz="1300"/>
              <a:t>blurring</a:t>
            </a:r>
            <a:r>
              <a:rPr lang="en" sz="1300"/>
              <a:t> (Averaging vs </a:t>
            </a:r>
            <a:r>
              <a:rPr lang="en" sz="1300"/>
              <a:t>Gaussian</a:t>
            </a:r>
            <a:r>
              <a:rPr lang="en" sz="1300"/>
              <a:t>)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Different version of Sampling (Uniform vs Jitter)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Undersampling</a:t>
            </a:r>
            <a:endParaRPr sz="1300"/>
          </a:p>
        </p:txBody>
      </p:sp>
      <p:sp>
        <p:nvSpPr>
          <p:cNvPr id="789" name="Google Shape;789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0" name="Google Shape;790;p98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we Learned + Next Steps</a:t>
            </a:r>
            <a:endParaRPr/>
          </a:p>
        </p:txBody>
      </p:sp>
      <p:pic>
        <p:nvPicPr>
          <p:cNvPr id="791" name="Google Shape;79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213" y="3798300"/>
            <a:ext cx="33242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700" y="1996125"/>
            <a:ext cx="2127250" cy="167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98"/>
          <p:cNvPicPr preferRelativeResize="0"/>
          <p:nvPr/>
        </p:nvPicPr>
        <p:blipFill rotWithShape="1">
          <a:blip r:embed="rId5">
            <a:alphaModFix/>
          </a:blip>
          <a:srcRect b="0" l="2553" r="0" t="0"/>
          <a:stretch/>
        </p:blipFill>
        <p:spPr>
          <a:xfrm>
            <a:off x="4663450" y="189050"/>
            <a:ext cx="3493201" cy="16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9"/>
          <p:cNvSpPr txBox="1"/>
          <p:nvPr>
            <p:ph type="title"/>
          </p:nvPr>
        </p:nvSpPr>
        <p:spPr>
          <a:xfrm>
            <a:off x="197375" y="652225"/>
            <a:ext cx="3151800" cy="9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799" name="Google Shape;799;p99"/>
          <p:cNvSpPr txBox="1"/>
          <p:nvPr>
            <p:ph idx="1" type="body"/>
          </p:nvPr>
        </p:nvSpPr>
        <p:spPr>
          <a:xfrm>
            <a:off x="197375" y="2056025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Easy / Medium: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Triangle Filter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Stratified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Poisson Disk Sampling</a:t>
            </a:r>
            <a:endParaRPr/>
          </a:p>
        </p:txBody>
      </p:sp>
      <p:sp>
        <p:nvSpPr>
          <p:cNvPr id="800" name="Google Shape;800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1" name="Google Shape;801;p9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we Learned + Next Steps</a:t>
            </a:r>
            <a:endParaRPr/>
          </a:p>
        </p:txBody>
      </p:sp>
      <p:sp>
        <p:nvSpPr>
          <p:cNvPr id="802" name="Google Shape;802;p99"/>
          <p:cNvSpPr txBox="1"/>
          <p:nvPr>
            <p:ph idx="1" type="body"/>
          </p:nvPr>
        </p:nvSpPr>
        <p:spPr>
          <a:xfrm>
            <a:off x="4192075" y="2056025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Hard</a:t>
            </a:r>
            <a:r>
              <a:rPr b="1" lang="en"/>
              <a:t>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Adaptive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 Learning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00"/>
          <p:cNvSpPr txBox="1"/>
          <p:nvPr>
            <p:ph idx="2" type="title"/>
          </p:nvPr>
        </p:nvSpPr>
        <p:spPr>
          <a:xfrm>
            <a:off x="2523800" y="2163150"/>
            <a:ext cx="4295400" cy="8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3"/>
                </a:solidFill>
              </a:rPr>
              <a:t>Thank you!</a:t>
            </a:r>
            <a:endParaRPr sz="48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